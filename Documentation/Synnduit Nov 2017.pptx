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revisionInfo.xml" ContentType="application/vnd.ms-powerpoint.revisioninfo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5" r:id="rId4"/>
    <p:sldId id="260" r:id="rId5"/>
    <p:sldId id="261" r:id="rId6"/>
    <p:sldId id="262" r:id="rId7"/>
    <p:sldId id="263" r:id="rId8"/>
    <p:sldId id="264" r:id="rId9"/>
    <p:sldId id="266" r:id="rId10"/>
    <p:sldId id="268" r:id="rId11"/>
    <p:sldId id="267" r:id="rId12"/>
    <p:sldId id="270" r:id="rId13"/>
    <p:sldId id="271" r:id="rId14"/>
    <p:sldId id="272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ltGray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0128" y="1143001"/>
            <a:ext cx="5030510" cy="2514601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Roboto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0128" y="3657601"/>
            <a:ext cx="503051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5491" y="6432552"/>
            <a:ext cx="5654560" cy="273049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34418" y="6432552"/>
            <a:ext cx="1371957" cy="273049"/>
          </a:xfrm>
        </p:spPr>
        <p:txBody>
          <a:bodyPr/>
          <a:lstStyle/>
          <a:p>
            <a:fld id="{183B6196-8086-42B7-B232-4404F8BE1AC6}" type="datetimeFigureOut">
              <a:rPr lang="en-US" smtClean="0"/>
              <a:t>2018-01-15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5035" y="6432552"/>
            <a:ext cx="1219519" cy="273049"/>
          </a:xfrm>
        </p:spPr>
        <p:txBody>
          <a:bodyPr/>
          <a:lstStyle/>
          <a:p>
            <a:fld id="{AFADB4CA-16BB-4E4B-BB44-7EDE9033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4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196-8086-42B7-B232-4404F8BE1AC6}" type="datetimeFigureOut">
              <a:rPr lang="en-US" smtClean="0"/>
              <a:t>2018-01-15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B4CA-16BB-4E4B-BB44-7EDE9033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0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491" y="533400"/>
            <a:ext cx="8689063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491" y="3124200"/>
            <a:ext cx="8689063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196-8086-42B7-B232-4404F8BE1AC6}" type="datetimeFigureOut">
              <a:rPr lang="en-US" smtClean="0"/>
              <a:t>2018-01-15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B4CA-16BB-4E4B-BB44-7EDE9033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3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489" y="1828800"/>
            <a:ext cx="4253068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6021" y="1828800"/>
            <a:ext cx="4253068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196-8086-42B7-B232-4404F8BE1AC6}" type="datetimeFigureOut">
              <a:rPr lang="en-US" smtClean="0"/>
              <a:t>2018-01-15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B4CA-16BB-4E4B-BB44-7EDE9033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8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488" y="533400"/>
            <a:ext cx="8689065" cy="1066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490" y="1828800"/>
            <a:ext cx="4253068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490" y="2590800"/>
            <a:ext cx="4253068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1485" y="1828800"/>
            <a:ext cx="4253068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1485" y="2590800"/>
            <a:ext cx="4253068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196-8086-42B7-B232-4404F8BE1AC6}" type="datetimeFigureOut">
              <a:rPr lang="en-US" smtClean="0"/>
              <a:t>2018-01-15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B4CA-16BB-4E4B-BB44-7EDE9033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5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196-8086-42B7-B232-4404F8BE1AC6}" type="datetimeFigureOut">
              <a:rPr lang="en-US" smtClean="0"/>
              <a:t>2018-01-15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B4CA-16BB-4E4B-BB44-7EDE9033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4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196-8086-42B7-B232-4404F8BE1AC6}" type="datetimeFigureOut">
              <a:rPr lang="en-US" smtClean="0"/>
              <a:t>2018-01-15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B4CA-16BB-4E4B-BB44-7EDE9033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9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490" y="533400"/>
            <a:ext cx="4115872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7341" y="533400"/>
            <a:ext cx="5868928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490" y="2209800"/>
            <a:ext cx="4115872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196-8086-42B7-B232-4404F8BE1AC6}" type="datetimeFigureOut">
              <a:rPr lang="en-US" smtClean="0"/>
              <a:t>2018-01-15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B4CA-16BB-4E4B-BB44-7EDE9033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7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490" y="533400"/>
            <a:ext cx="4115872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7340" y="533400"/>
            <a:ext cx="5781679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490" y="2209800"/>
            <a:ext cx="4115872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488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196-8086-42B7-B232-4404F8BE1AC6}" type="datetimeFigureOut">
              <a:rPr lang="en-US" smtClean="0"/>
              <a:t>2018-01-15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B4CA-16BB-4E4B-BB44-7EDE9033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62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3695" y="533400"/>
            <a:ext cx="23628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491" y="533400"/>
            <a:ext cx="7469544" cy="5486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196-8086-42B7-B232-4404F8BE1AC6}" type="datetimeFigureOut">
              <a:rPr lang="en-US" smtClean="0"/>
              <a:t>2018-01-15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B4CA-16BB-4E4B-BB44-7EDE9033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490" y="533400"/>
            <a:ext cx="8689064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490" y="1828800"/>
            <a:ext cx="8689064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491" y="6155268"/>
            <a:ext cx="565456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4418" y="6155268"/>
            <a:ext cx="137195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83B6196-8086-42B7-B232-4404F8BE1AC6}" type="datetimeFigureOut">
              <a:rPr lang="en-US" smtClean="0"/>
              <a:t>2018-01-15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5035" y="6155268"/>
            <a:ext cx="121951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FADB4CA-16BB-4E4B-BB44-7EDE9033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7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rgbClr val="35A5E0"/>
          </a:solidFill>
          <a:latin typeface="Roboto Regular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rgbClr val="4B647B"/>
          </a:solidFill>
          <a:latin typeface="Roboto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rgbClr val="4B647B"/>
          </a:solidFill>
          <a:latin typeface="Roboto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rgbClr val="4B647B"/>
          </a:solidFill>
          <a:latin typeface="Roboto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rgbClr val="4B647B"/>
          </a:solidFill>
          <a:latin typeface="Roboto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rgbClr val="4B647B"/>
          </a:solidFill>
          <a:latin typeface="Roboto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C107-CB40-49FF-BF30-7421206E27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Synnduit @CCSD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EFC60-6915-4D87-820C-1ED51BCCD9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Calgary Catholic School District’s Use of the Synnduit Platform</a:t>
            </a:r>
          </a:p>
        </p:txBody>
      </p:sp>
    </p:spTree>
    <p:extLst>
      <p:ext uri="{BB962C8B-B14F-4D97-AF65-F5344CB8AC3E}">
        <p14:creationId xmlns:p14="http://schemas.microsoft.com/office/powerpoint/2010/main" val="413842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Synnduit?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lnSpc>
                <a:spcPct val="200000"/>
              </a:lnSpc>
              <a:buNone/>
            </a:pPr>
            <a:r>
              <a:rPr lang="en-US" i="1" dirty="0"/>
              <a:t>“Synnduit is an open-source enterprise integration platform designed to enable long-term application coexistence. Developed in .NET, it’s built to work with any enterprise system, and it gives business analysts and developers enormous flexibility and extremely granular control.”</a:t>
            </a:r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91DC-0B2B-4393-9D37-6AA57C6F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History of Synnduit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3EDAB-F7DA-4491-81D9-FB4F7EF76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number of similar projects led to “patterns”</a:t>
            </a:r>
          </a:p>
          <a:p>
            <a:r>
              <a:rPr lang="en-US" dirty="0"/>
              <a:t>Started building a framework with, initially, no real-world opportunity to apply it</a:t>
            </a:r>
          </a:p>
          <a:p>
            <a:r>
              <a:rPr lang="en-US" dirty="0"/>
              <a:t>It’s turned out to be a great fit for the Calgary Catholic School District’s portal integration project</a:t>
            </a:r>
          </a:p>
          <a:p>
            <a:r>
              <a:rPr lang="en-US" dirty="0"/>
              <a:t>A great opportunity to finish and release to open source</a:t>
            </a:r>
          </a:p>
          <a:p>
            <a:r>
              <a:rPr lang="en-US" dirty="0"/>
              <a:t>No cost to CCSD – a win-win situation!</a:t>
            </a:r>
          </a:p>
        </p:txBody>
      </p:sp>
    </p:spTree>
    <p:extLst>
      <p:ext uri="{BB962C8B-B14F-4D97-AF65-F5344CB8AC3E}">
        <p14:creationId xmlns:p14="http://schemas.microsoft.com/office/powerpoint/2010/main" val="145215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Synnduit Is Flexible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as much as possible “out-of-the-box”...</a:t>
            </a:r>
          </a:p>
          <a:p>
            <a:r>
              <a:rPr lang="en-US" dirty="0"/>
              <a:t>… but treats developers as first-class citizens!</a:t>
            </a:r>
          </a:p>
          <a:p>
            <a:r>
              <a:rPr lang="en-US" dirty="0"/>
              <a:t>Features a .NET framework</a:t>
            </a:r>
          </a:p>
          <a:p>
            <a:r>
              <a:rPr lang="en-US" dirty="0"/>
              <a:t>All default behavior can be overridden</a:t>
            </a:r>
          </a:p>
        </p:txBody>
      </p:sp>
    </p:spTree>
    <p:extLst>
      <p:ext uri="{BB962C8B-B14F-4D97-AF65-F5344CB8AC3E}">
        <p14:creationId xmlns:p14="http://schemas.microsoft.com/office/powerpoint/2010/main" val="179475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Synnduit Embraces Granularity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Integration is hard…</a:t>
            </a:r>
          </a:p>
          <a:p>
            <a:r>
              <a:rPr lang="en-US" dirty="0"/>
              <a:t>… and the devil is in the details!</a:t>
            </a:r>
          </a:p>
          <a:p>
            <a:r>
              <a:rPr lang="en-US" dirty="0"/>
              <a:t>Provides extraordinary visibility of integration activity…</a:t>
            </a:r>
          </a:p>
          <a:p>
            <a:r>
              <a:rPr lang="en-US" dirty="0"/>
              <a:t>…down to the level of an individual value change</a:t>
            </a:r>
          </a:p>
          <a:p>
            <a:r>
              <a:rPr lang="en-US" dirty="0"/>
              <a:t>Blends integration with version control…</a:t>
            </a:r>
          </a:p>
          <a:p>
            <a:r>
              <a:rPr lang="en-US" dirty="0"/>
              <a:t>…when the unexpected happens, Synnduit can help!</a:t>
            </a:r>
          </a:p>
          <a:p>
            <a:r>
              <a:rPr lang="en-US" dirty="0"/>
              <a:t>“ETL Meets Version Control”</a:t>
            </a:r>
          </a:p>
        </p:txBody>
      </p:sp>
    </p:spTree>
    <p:extLst>
      <p:ext uri="{BB962C8B-B14F-4D97-AF65-F5344CB8AC3E}">
        <p14:creationId xmlns:p14="http://schemas.microsoft.com/office/powerpoint/2010/main" val="28369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Synnduit Is Easy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Synnduit is an engine!</a:t>
            </a:r>
          </a:p>
          <a:p>
            <a:r>
              <a:rPr lang="en-US" dirty="0"/>
              <a:t>You implement connections to your external systems</a:t>
            </a:r>
          </a:p>
          <a:p>
            <a:pPr lvl="1"/>
            <a:r>
              <a:rPr lang="en-US" dirty="0"/>
              <a:t>Source Systems</a:t>
            </a:r>
          </a:p>
          <a:p>
            <a:pPr lvl="1"/>
            <a:r>
              <a:rPr lang="en-US" dirty="0"/>
              <a:t>Destination Systems</a:t>
            </a:r>
          </a:p>
          <a:p>
            <a:r>
              <a:rPr lang="en-US" dirty="0"/>
              <a:t>You implement custom logic as necessary (e.g</a:t>
            </a:r>
            <a:r>
              <a:rPr lang="en-US"/>
              <a:t>., duplicate </a:t>
            </a:r>
            <a:r>
              <a:rPr lang="en-US" dirty="0"/>
              <a:t>detection)</a:t>
            </a:r>
          </a:p>
          <a:p>
            <a:r>
              <a:rPr lang="en-US" dirty="0"/>
              <a:t>You provide “data snapshots”, Synnduit detects and processes the “delta”</a:t>
            </a:r>
          </a:p>
        </p:txBody>
      </p:sp>
    </p:spTree>
    <p:extLst>
      <p:ext uri="{BB962C8B-B14F-4D97-AF65-F5344CB8AC3E}">
        <p14:creationId xmlns:p14="http://schemas.microsoft.com/office/powerpoint/2010/main" val="183295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and Open-Source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Permissive License (Apache v2.0)</a:t>
            </a:r>
          </a:p>
          <a:p>
            <a:r>
              <a:rPr lang="en-US" dirty="0"/>
              <a:t>Risk free…</a:t>
            </a:r>
          </a:p>
          <a:p>
            <a:r>
              <a:rPr lang="en-US" dirty="0"/>
              <a:t>…treat (virtually) as your own source code if so inclined!</a:t>
            </a:r>
          </a:p>
          <a:p>
            <a:r>
              <a:rPr lang="en-US" dirty="0"/>
              <a:t>No lock-in</a:t>
            </a:r>
          </a:p>
          <a:p>
            <a:r>
              <a:rPr lang="en-US" dirty="0"/>
              <a:t>Contributions welcome – everyone can benefit</a:t>
            </a:r>
          </a:p>
        </p:txBody>
      </p:sp>
    </p:spTree>
    <p:extLst>
      <p:ext uri="{BB962C8B-B14F-4D97-AF65-F5344CB8AC3E}">
        <p14:creationId xmlns:p14="http://schemas.microsoft.com/office/powerpoint/2010/main" val="372864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Synnduit?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Roboto Regular" pitchFamily="2" charset="0"/>
                <a:ea typeface="Roboto Regular" pitchFamily="2" charset="0"/>
              </a:rPr>
              <a:t>Continuous, long-term data migrations (integration vs. import)</a:t>
            </a:r>
          </a:p>
          <a:p>
            <a:r>
              <a:rPr lang="en-US" dirty="0"/>
              <a:t>Unified, pattern-based approach to integration</a:t>
            </a:r>
            <a:endParaRPr lang="en-US" dirty="0">
              <a:solidFill>
                <a:srgbClr val="4B647B"/>
              </a:solidFill>
              <a:latin typeface="Roboto Regular" pitchFamily="2" charset="0"/>
              <a:ea typeface="Roboto Regular" pitchFamily="2" charset="0"/>
            </a:endParaRPr>
          </a:p>
          <a:p>
            <a:r>
              <a:rPr lang="en-US" dirty="0">
                <a:solidFill>
                  <a:srgbClr val="4B647B"/>
                </a:solidFill>
                <a:latin typeface="Roboto Regular" pitchFamily="2" charset="0"/>
                <a:ea typeface="Roboto Regular" pitchFamily="2" charset="0"/>
              </a:rPr>
              <a:t>Duplicate detection, merging, change tracking, logging</a:t>
            </a:r>
          </a:p>
          <a:p>
            <a:r>
              <a:rPr lang="en-US" dirty="0">
                <a:solidFill>
                  <a:srgbClr val="4B647B"/>
                </a:solidFill>
                <a:latin typeface="Roboto Regular" pitchFamily="2" charset="0"/>
                <a:ea typeface="Roboto Regular" pitchFamily="2" charset="0"/>
              </a:rPr>
              <a:t>Can interface in many ways, including direct database access and APIs</a:t>
            </a:r>
          </a:p>
          <a:p>
            <a:r>
              <a:rPr lang="en-US" dirty="0">
                <a:solidFill>
                  <a:srgbClr val="4B647B"/>
                </a:solidFill>
                <a:latin typeface="Roboto Regular" pitchFamily="2" charset="0"/>
                <a:ea typeface="Roboto Regular" pitchFamily="2" charset="0"/>
              </a:rPr>
              <a:t>High performance, high reliability</a:t>
            </a:r>
          </a:p>
        </p:txBody>
      </p:sp>
    </p:spTree>
    <p:extLst>
      <p:ext uri="{BB962C8B-B14F-4D97-AF65-F5344CB8AC3E}">
        <p14:creationId xmlns:p14="http://schemas.microsoft.com/office/powerpoint/2010/main" val="264453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C107-CB40-49FF-BF30-7421206E27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Synnduit @CSSD: Case Studies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EFC60-6915-4D87-820C-1ED51BCCD9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Portal Integration, SharePoint Online Integration, Reporting Integration, and more…</a:t>
            </a:r>
          </a:p>
        </p:txBody>
      </p:sp>
    </p:spTree>
    <p:extLst>
      <p:ext uri="{BB962C8B-B14F-4D97-AF65-F5344CB8AC3E}">
        <p14:creationId xmlns:p14="http://schemas.microsoft.com/office/powerpoint/2010/main" val="110046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CCSD Integration Architecture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828800"/>
            <a:ext cx="7234946" cy="4191000"/>
          </a:xfrm>
        </p:spPr>
      </p:pic>
    </p:spTree>
    <p:extLst>
      <p:ext uri="{BB962C8B-B14F-4D97-AF65-F5344CB8AC3E}">
        <p14:creationId xmlns:p14="http://schemas.microsoft.com/office/powerpoint/2010/main" val="325741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Portal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exists in various existing systems, including:</a:t>
            </a:r>
          </a:p>
          <a:p>
            <a:pPr lvl="1"/>
            <a:r>
              <a:rPr lang="en-US" dirty="0"/>
              <a:t>PeopleSoft (HR)</a:t>
            </a:r>
          </a:p>
          <a:p>
            <a:pPr lvl="1"/>
            <a:r>
              <a:rPr lang="en-US" dirty="0"/>
              <a:t>PowerSchool</a:t>
            </a:r>
          </a:p>
          <a:p>
            <a:pPr lvl="1"/>
            <a:r>
              <a:rPr lang="en-US" dirty="0"/>
              <a:t>SSIS (custom; has been replaced with a direct PowerSchool link)</a:t>
            </a:r>
          </a:p>
          <a:p>
            <a:pPr lvl="1"/>
            <a:r>
              <a:rPr lang="en-US" dirty="0"/>
              <a:t>Various documents and more…</a:t>
            </a:r>
          </a:p>
          <a:p>
            <a:r>
              <a:rPr lang="en-US" dirty="0"/>
              <a:t>SchoolBundle is not intended to replace existing apps</a:t>
            </a:r>
          </a:p>
          <a:p>
            <a:r>
              <a:rPr lang="en-US" dirty="0"/>
              <a:t>One-off migrations aren’t sufficient: Live data keeps changing</a:t>
            </a:r>
          </a:p>
          <a:p>
            <a:r>
              <a:rPr lang="en-US" dirty="0"/>
              <a:t>Data changes in multiple systems: Merging is required</a:t>
            </a:r>
          </a:p>
        </p:txBody>
      </p:sp>
    </p:spTree>
    <p:extLst>
      <p:ext uri="{BB962C8B-B14F-4D97-AF65-F5344CB8AC3E}">
        <p14:creationId xmlns:p14="http://schemas.microsoft.com/office/powerpoint/2010/main" val="207188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F4B1-C099-465F-B89C-47F9062AC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SharePoint (Intranet)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D408E-36F3-4217-99A9-CBA844227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“Team Site Templates” defined:</a:t>
            </a:r>
          </a:p>
          <a:p>
            <a:pPr lvl="1"/>
            <a:r>
              <a:rPr lang="en-US" dirty="0"/>
              <a:t>School Site</a:t>
            </a:r>
          </a:p>
          <a:p>
            <a:pPr lvl="1"/>
            <a:r>
              <a:rPr lang="en-US" dirty="0"/>
              <a:t>Department Site (HR, Document Services, Communications, etc.)</a:t>
            </a:r>
          </a:p>
          <a:p>
            <a:pPr lvl="1"/>
            <a:r>
              <a:rPr lang="en-US" dirty="0"/>
              <a:t>Functional Site (Principals, DLT, etc.)</a:t>
            </a:r>
          </a:p>
          <a:p>
            <a:r>
              <a:rPr lang="en-US" dirty="0"/>
              <a:t>Actual, out-of-the-box “SharePoint templates” not usable</a:t>
            </a:r>
          </a:p>
          <a:p>
            <a:pPr lvl="1"/>
            <a:r>
              <a:rPr lang="en-US" dirty="0"/>
              <a:t>Templates keep evolving, and </a:t>
            </a:r>
            <a:r>
              <a:rPr lang="en-US" i="1" dirty="0"/>
              <a:t>existing sites </a:t>
            </a:r>
            <a:r>
              <a:rPr lang="en-US" dirty="0"/>
              <a:t>need to reflect these changes</a:t>
            </a:r>
          </a:p>
          <a:p>
            <a:r>
              <a:rPr lang="en-US" dirty="0"/>
              <a:t>Security-related information exists in HR</a:t>
            </a:r>
          </a:p>
          <a:p>
            <a:pPr lvl="1"/>
            <a:r>
              <a:rPr lang="en-US" dirty="0"/>
              <a:t>Automatic updates of SharePoint security records saves a lot of manual labor</a:t>
            </a:r>
          </a:p>
          <a:p>
            <a:r>
              <a:rPr lang="en-US" dirty="0"/>
              <a:t>Much information in SOM editable via Supplemental Data Manager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81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17E09-4164-4158-89BD-AAE3B44C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0F123-DF1D-43FE-957B-050E833B5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information in School Object Model too complex for use in interactive reporting</a:t>
            </a:r>
          </a:p>
          <a:p>
            <a:r>
              <a:rPr lang="en-US" dirty="0"/>
              <a:t>Preprocessed and exported into a standalone “reporting” database (ETL style)</a:t>
            </a:r>
          </a:p>
          <a:p>
            <a:r>
              <a:rPr lang="en-US" dirty="0"/>
              <a:t>Benefits less obvious than in the previous two cases, as “classic ETL” (i.e., replacing all data every single time) would be feasible</a:t>
            </a:r>
          </a:p>
          <a:p>
            <a:r>
              <a:rPr lang="en-US" dirty="0"/>
              <a:t>Important benefits do still exist, though…</a:t>
            </a:r>
          </a:p>
          <a:p>
            <a:pPr lvl="1"/>
            <a:r>
              <a:rPr lang="en-US" dirty="0"/>
              <a:t>Improved Performance</a:t>
            </a:r>
          </a:p>
          <a:p>
            <a:pPr lvl="1"/>
            <a:r>
              <a:rPr lang="en-US" dirty="0"/>
              <a:t>“Uninterrupted” Operation</a:t>
            </a:r>
          </a:p>
          <a:p>
            <a:pPr lvl="1"/>
            <a:r>
              <a:rPr lang="en-US" dirty="0"/>
              <a:t>Version Control (History)</a:t>
            </a:r>
          </a:p>
        </p:txBody>
      </p:sp>
    </p:spTree>
    <p:extLst>
      <p:ext uri="{BB962C8B-B14F-4D97-AF65-F5344CB8AC3E}">
        <p14:creationId xmlns:p14="http://schemas.microsoft.com/office/powerpoint/2010/main" val="121144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CCSD Integration Architecture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828800"/>
            <a:ext cx="7234946" cy="4191000"/>
          </a:xfrm>
        </p:spPr>
      </p:pic>
    </p:spTree>
    <p:extLst>
      <p:ext uri="{BB962C8B-B14F-4D97-AF65-F5344CB8AC3E}">
        <p14:creationId xmlns:p14="http://schemas.microsoft.com/office/powerpoint/2010/main" val="397770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from Synnduit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up-to-date data in SchoolBundle (portal, as well as intranet)</a:t>
            </a:r>
          </a:p>
          <a:p>
            <a:r>
              <a:rPr lang="en-US" dirty="0"/>
              <a:t>Substantial reduction in custom code volume (~75%)</a:t>
            </a:r>
          </a:p>
          <a:p>
            <a:r>
              <a:rPr lang="en-US" dirty="0"/>
              <a:t>Fewer bugs, less error prone</a:t>
            </a:r>
          </a:p>
          <a:p>
            <a:r>
              <a:rPr lang="en-US" dirty="0"/>
              <a:t>History tracking &amp; version control features</a:t>
            </a:r>
          </a:p>
          <a:p>
            <a:r>
              <a:rPr lang="en-US" dirty="0"/>
              <a:t>Facilitates support &amp; troubleshooting</a:t>
            </a:r>
          </a:p>
          <a:p>
            <a:r>
              <a:rPr lang="en-US" dirty="0"/>
              <a:t>Very little maintenance required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67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ynnduit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ynnduit" id="{C22E787F-A524-4E6B-ABF6-3F9D0DF2E058}" vid="{44F6A6F4-B879-4A61-B95F-A62F25FC1A1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A298460A9587479901FEC213D3E9D2" ma:contentTypeVersion="19" ma:contentTypeDescription="Create a new document." ma:contentTypeScope="" ma:versionID="af695233e6ff5ffd7ad7b81e1a9cfeb2">
  <xsd:schema xmlns:xsd="http://www.w3.org/2001/XMLSchema" xmlns:xs="http://www.w3.org/2001/XMLSchema" xmlns:p="http://schemas.microsoft.com/office/2006/metadata/properties" xmlns:ns1="http://schemas.microsoft.com/sharepoint/v3" xmlns:ns2="8804b889-a1b9-42bd-85ac-dc910de1d108" xmlns:ns3="e35c522d-3913-4b3a-a671-280ffe662f2a" targetNamespace="http://schemas.microsoft.com/office/2006/metadata/properties" ma:root="true" ma:fieldsID="8c746950d249b6c8a554d71c175714cc" ns1:_="" ns2:_="" ns3:_="">
    <xsd:import namespace="http://schemas.microsoft.com/sharepoint/v3"/>
    <xsd:import namespace="8804b889-a1b9-42bd-85ac-dc910de1d108"/>
    <xsd:import namespace="e35c522d-3913-4b3a-a671-280ffe662f2a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4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5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04b889-a1b9-42bd-85ac-dc910de1d1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format="DateTime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5c522d-3913-4b3a-a671-280ffe662f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description="" ma:internalName="MediaServiceAutoTags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DB2879E-3674-49D9-9BF9-0DA11CC230AB}"/>
</file>

<file path=customXml/itemProps2.xml><?xml version="1.0" encoding="utf-8"?>
<ds:datastoreItem xmlns:ds="http://schemas.openxmlformats.org/officeDocument/2006/customXml" ds:itemID="{A6025CE5-09F9-4E30-A5AA-B661DAA332DA}"/>
</file>

<file path=customXml/itemProps3.xml><?xml version="1.0" encoding="utf-8"?>
<ds:datastoreItem xmlns:ds="http://schemas.openxmlformats.org/officeDocument/2006/customXml" ds:itemID="{807F8A02-59CE-4398-8491-F88F0A4E1BA4}"/>
</file>

<file path=docProps/app.xml><?xml version="1.0" encoding="utf-8"?>
<Properties xmlns="http://schemas.openxmlformats.org/officeDocument/2006/extended-properties" xmlns:vt="http://schemas.openxmlformats.org/officeDocument/2006/docPropsVTypes">
  <Template>Synnduit</Template>
  <TotalTime>155</TotalTime>
  <Words>627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Palatino Linotype</vt:lpstr>
      <vt:lpstr>Roboto</vt:lpstr>
      <vt:lpstr>Roboto Regular</vt:lpstr>
      <vt:lpstr>Synnduit</vt:lpstr>
      <vt:lpstr>Synnduit @CCSD</vt:lpstr>
      <vt:lpstr>What Is Synnduit?</vt:lpstr>
      <vt:lpstr>A Brief History of Synnduit</vt:lpstr>
      <vt:lpstr>Synnduit Is Flexible</vt:lpstr>
      <vt:lpstr>Synnduit Embraces Granularity</vt:lpstr>
      <vt:lpstr>Synnduit Is Easy</vt:lpstr>
      <vt:lpstr>Free and Open-Source</vt:lpstr>
      <vt:lpstr>Why Synnduit?</vt:lpstr>
      <vt:lpstr>Synnduit @CSSD: Case Studies</vt:lpstr>
      <vt:lpstr>CCSD Integration Architecture</vt:lpstr>
      <vt:lpstr>Portal Integration</vt:lpstr>
      <vt:lpstr>SharePoint (Intranet) Integration</vt:lpstr>
      <vt:lpstr>Reporting Integration</vt:lpstr>
      <vt:lpstr>CCSD Integration Architecture</vt:lpstr>
      <vt:lpstr>Benefits from Synnduit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Synnduit @CCSD</dc:title>
  <dc:creator>Jon Suda</dc:creator>
  <cp:lastModifiedBy>Karl Burndorfer</cp:lastModifiedBy>
  <cp:revision>19</cp:revision>
  <dcterms:created xsi:type="dcterms:W3CDTF">2017-11-24T01:25:37Z</dcterms:created>
  <dcterms:modified xsi:type="dcterms:W3CDTF">2018-01-16T00:26:38Z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0x010100ACA298460A9587479901FEC213D3E9D2</vt:lpwstr>
  </property>
</Properties>
</file>